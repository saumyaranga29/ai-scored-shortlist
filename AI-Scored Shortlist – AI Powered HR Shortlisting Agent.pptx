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3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AF5C-0919-91C6-2E0C-2FC11A10A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D4BDE-99CF-0A3A-81C0-E3431FB41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97A2B-A1FF-530A-B7E2-79D59BED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69016-CE8C-785A-DC7C-EF5D0D64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DABBC-8F77-6248-85F2-A0F33F17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36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DB21-FF0A-E4FC-1061-E48DF512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625C-1F71-D4B7-7F8B-B9D5A6CD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F034C-D6BC-4CB3-E06E-489F3BDD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6174-92C3-939C-58C3-01FD9BFD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3E03-A41F-1471-4734-69A4221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7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5D2D-322D-E448-F2CC-9262D36E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11039-0157-18C3-EBA1-0E4BF406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C4F2E-2C24-E453-CCC9-D6F30A6F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3BB65-93B7-C063-3FF5-95780D91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1403-117D-09E1-B1EC-3F6DC4540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17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6152-6EA4-BC32-0927-7D1E2937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99B0-2844-E3B5-D0DE-3AA52AED7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DBAAD-2F52-7622-3494-7FD9CC646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1B87-74F1-3DC6-929B-A50FA07C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52B83-CE25-E19E-CD0F-B2B3AF04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EA275-5795-F2E6-296A-A648410A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08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055F-BE4A-9910-598B-F55FA70A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0A34-6F4B-286B-C4AC-740542CAD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0E422-DE71-828F-92F2-3B3E32E26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C425A-FDB9-BFF8-5C2E-6E3B90277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AD6C1-2CA5-C380-7D9D-AB034E8AA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8B3CF5-7F9E-9F2E-5852-DE4E3709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A0A74-D4D6-F635-595C-E24D524A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11A1B-B83F-EE70-7B68-FA92F248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9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5BE4-7820-3592-152D-1376A28D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92A83-FEA8-7D61-3F5B-7781C67D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4C076-2565-EAA2-2F9D-59DC489E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802F8-9E2C-A516-5582-794EF06A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94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A64D7-3D68-3AC1-1589-059D33A4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22E26-23BF-D4AA-AA68-F8089A1C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2638-3537-9ADC-9F98-C9BC90BC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2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87BD-300B-293B-4F8C-93F8E19D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4461A-38BD-2B48-5F6A-CEF738B17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CAD69-266D-7558-A40E-7F28BF41D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3F946-33CF-DB05-0C1C-EEC13966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23251-EEC7-921E-C46C-C0E5EF8C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BBFB9-6342-706F-0DE9-005CF1B6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59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49E4-B3D9-0276-9D73-89BAF54F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FF44D-2A0E-7F92-1182-EDE371B72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796BE-EF70-5D4A-7F5B-92F927892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187CE-24E2-EBBF-FC74-8CE62774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EE2D8-62F3-F125-BB07-1A8EB5F0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A4D2-0307-5194-23C9-877D237C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49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148A-D778-C88C-84E5-45042315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35E30-09AD-E2B0-3DD7-AC42427D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8EDE-8E91-B78A-2DA5-5DA626CF8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C33AB-09E8-90ED-B422-CF6B5E49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5D453-4FDC-D33A-3BB6-04C7062A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99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8BECD-D917-48EC-752F-9E492356E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DDD66-7047-BE27-8D61-7C447DD1E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5F787-C746-A595-E316-9F90FE87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5616-5E3F-1950-745D-D9150867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B3157-C65C-941C-35B3-56FADF24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00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01BA7-9D1B-CC22-3EB0-AA65F898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FE160-04A5-5DE5-FC22-61883170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8075-F0D7-F512-6C29-0B3525E31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709D-9B08-45C4-B199-DE4E1071208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655C-339B-E6B1-1475-1E74869D1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728EA-8BE2-6988-280E-266371EB0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1A67B-8C94-4693-B0DE-28054CE4A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0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myaranga29/AI-scored-Shortlist" TargetMode="External"/><Relationship Id="rId2" Type="http://schemas.openxmlformats.org/officeDocument/2006/relationships/hyperlink" Target="https://ai-scored-shortlist-dsvis2xrnboa6kfuxzhczg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t4dTcrkjkHdgLx5iWUj5tXPs67gLE6yL/view?usp=sharin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1041-53AB-9739-FED3-A7ACBFEB8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AI-Scored Shortlist – AI Powered HR Shortlisting Agent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8BD25-06EF-27C9-1B5C-0A5A4D8777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Automating Resume Screening with Llama 3.3 and </a:t>
            </a:r>
            <a:r>
              <a:rPr lang="en-US" dirty="0" err="1"/>
              <a:t>Groq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413A9-721B-0499-DF3F-19A8208AB41D}"/>
              </a:ext>
            </a:extLst>
          </p:cNvPr>
          <p:cNvSpPr txBox="1"/>
          <p:nvPr/>
        </p:nvSpPr>
        <p:spPr>
          <a:xfrm>
            <a:off x="10075873" y="5841676"/>
            <a:ext cx="1939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Saumya Ranga</a:t>
            </a:r>
          </a:p>
        </p:txBody>
      </p:sp>
    </p:spTree>
    <p:extLst>
      <p:ext uri="{BB962C8B-B14F-4D97-AF65-F5344CB8AC3E}">
        <p14:creationId xmlns:p14="http://schemas.microsoft.com/office/powerpoint/2010/main" val="27220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6FD3-AFC8-CB1B-CBC1-D87F6A62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0092A-E183-050B-110A-D5039613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recruitment agent that reads a Job Description, evaluates candidate resumes across a dynamic 5-dimension rubric powered by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(Llama 3.3 70B)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produces a ranked, explainable shortlist with Human-in-the-Loop override support.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https://ai-scored-shortlist-dsvis2xrnboa6kfuxzhczg.streamlit.app/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https://github.com/saumyaranga29/AI-scored-Shortlist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Report:-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https://drive.google.com/file/d/1t4dTcrkjkHdgLx5iWUj5tXPs67gLE6yL/view?usp=sharing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22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BBBC-6DF6-1EC2-80CC-319E375B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199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F9A1-11A9-D152-77F3-7BE7896C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HR professionals spend countless hours manually reviewing hundreds of resumes.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Evaluation: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Human bias and fatigue lead to inconsistent candidate scoring.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Candidate Experience: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Slow review processes cause companies to lose top talent to faster competitors.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system that can accurately, fairly, and instantly parse and rank candidates based on a specific Job Description.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55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5C4D-65CE-2192-A196-4A825457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54" y="681037"/>
            <a:ext cx="11205767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Solution- 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Driven Recruitment Intelligence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1997-E131-0AC7-06D5-4CB8F18DC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6835"/>
            <a:ext cx="10515600" cy="435133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Parsing: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Extracts key skills, experience, and education from any Job Description and unstructured Resumes (PDF, DOCX, TXT).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5-Dimension Rubric: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Automatically evaluates candidates on 5 key dimensions tailored specifically to the uploaded JD.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Lightning Fast Inference: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Powered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LPU and Llama 3.3 70B, scoring happens in seconds, not hours.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Output: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Generates a ranked shortlist with transparent justifications and exportable HTML/JSON reports.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32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CD1C-060F-D24C-9BB5-413F5D49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C1B6E-2B90-9762-8184-32F126494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resume screening is slow, inconsistent, and prone to bias. This agent automates the initial shortlisting step end-to-end: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the Job Description → extracts required skills, experience, education, and role context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dynamic 5-dimension rubric → tailored to the specific JD, not generic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each resume → PDF, DOCX, or TXT supported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every candidate using Llama 3.3 70B via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high-speed inference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candidates and provides explainable scores with strengths, gaps, and a hiring recommendation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override → HR professionals can review AI reasoning and adjust scores; all changes are audit-logged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a rich HTML report or raw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98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0DBE-FABF-FCD9-F04B-3CC89B1D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58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338443-2B40-30D1-078C-5B4E1ED52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5756" y="1261572"/>
            <a:ext cx="2456502" cy="5066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72FAB8-838D-7DD5-EE8F-6F6396379F18}"/>
              </a:ext>
            </a:extLst>
          </p:cNvPr>
          <p:cNvSpPr txBox="1"/>
          <p:nvPr/>
        </p:nvSpPr>
        <p:spPr>
          <a:xfrm>
            <a:off x="1065829" y="1788031"/>
            <a:ext cx="58766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Ingestion: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uploads a JD and a batch of resumes via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Parsing Agents: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JD and Resumes are parsed into structured JSON schemas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Scoring Agent: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Llama 3.3 70B compares the structured profiles against the JD.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Human-in-the-Loop: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HR reviews the AI's justifications and finalizes the scores.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Export: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generates the final Shortlist Report.</a:t>
            </a:r>
          </a:p>
        </p:txBody>
      </p:sp>
    </p:spTree>
    <p:extLst>
      <p:ext uri="{BB962C8B-B14F-4D97-AF65-F5344CB8AC3E}">
        <p14:creationId xmlns:p14="http://schemas.microsoft.com/office/powerpoint/2010/main" val="48831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22B0-4A0E-DD15-0CF4-46361E6E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364" y="242106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294345-145A-8D01-0D14-5D641400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7549" y="314508"/>
            <a:ext cx="5781415" cy="611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69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375D-4DC0-9659-852D-77AB5813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DF87F8-0FF6-2E88-BCB9-08476DF47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785053"/>
              </p:ext>
            </p:extLst>
          </p:nvPr>
        </p:nvGraphicFramePr>
        <p:xfrm>
          <a:off x="838200" y="1933702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553819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4044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45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app.py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Streamlit UI, orchestrates the full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73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agents/jd_parser.py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structured data from Job 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03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agents/profile_parser.py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Parses resume text into structured candidate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69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agents/scorer.py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Scores candidates using dynamic rubric via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19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agents/report_generator.py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Generates HTML &amp; JSON export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7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utils/llm_client.py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Groq API wrapper, handles structured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14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utils/file_handler.py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Reads PDF, DOCX, TXT resume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583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models/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Pydantic models for JD, candidate profile,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60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sample_data/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Sample JD + 5 resumes (strong → no match)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94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43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46F5-F2D5-93DB-A161-C65A988E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EF4A2B-DB28-ACBA-5448-7E641B6CC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922652"/>
              </p:ext>
            </p:extLst>
          </p:nvPr>
        </p:nvGraphicFramePr>
        <p:xfrm>
          <a:off x="1023837" y="1147368"/>
          <a:ext cx="10141161" cy="534130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80387">
                  <a:extLst>
                    <a:ext uri="{9D8B030D-6E8A-4147-A177-3AD203B41FA5}">
                      <a16:colId xmlns:a16="http://schemas.microsoft.com/office/drawing/2014/main" val="390687443"/>
                    </a:ext>
                  </a:extLst>
                </a:gridCol>
                <a:gridCol w="3380387">
                  <a:extLst>
                    <a:ext uri="{9D8B030D-6E8A-4147-A177-3AD203B41FA5}">
                      <a16:colId xmlns:a16="http://schemas.microsoft.com/office/drawing/2014/main" val="634213464"/>
                    </a:ext>
                  </a:extLst>
                </a:gridCol>
                <a:gridCol w="3380387">
                  <a:extLst>
                    <a:ext uri="{9D8B030D-6E8A-4147-A177-3AD203B41FA5}">
                      <a16:colId xmlns:a16="http://schemas.microsoft.com/office/drawing/2014/main" val="2405726863"/>
                    </a:ext>
                  </a:extLst>
                </a:gridCol>
              </a:tblGrid>
              <a:tr h="2025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Rationale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324605"/>
                  </a:ext>
                </a:extLst>
              </a:tr>
              <a:tr h="3551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Language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programming language used for scripting and data processing.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06192"/>
                  </a:ext>
                </a:extLst>
              </a:tr>
              <a:tr h="660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UI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 prototyping of the web application and interactive Human-in-the-Loop review dashboard.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025426"/>
                  </a:ext>
                </a:extLst>
              </a:tr>
              <a:tr h="660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3.3 70B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intelligence engine providing high-reasoning capabilities for complex, subjective candidate evaluation.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216705"/>
                  </a:ext>
                </a:extLst>
              </a:tr>
              <a:tr h="660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Engine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 LPU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Delivers lightning-fast token generation to process multiple resumes rapidly without timeout errors.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61901"/>
                  </a:ext>
                </a:extLst>
              </a:tr>
              <a:tr h="660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Pydantic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Enforces strict JSON schemas for LLM outputs, acting as a guardrail against hallucinations and parsing errors.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109590"/>
                  </a:ext>
                </a:extLst>
              </a:tr>
              <a:tr h="507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Environment/Secrets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python-dotenv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Securely loads API keys locally, alongside Streamlit Cloud's native Secrets manager for production.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670808"/>
                  </a:ext>
                </a:extLst>
              </a:tr>
              <a:tr h="660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Reporting/Export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Jinja2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Templates and dynamically generates the visually rich, downloadable HTML Candidate Shortlist Reports.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504401"/>
                  </a:ext>
                </a:extLst>
              </a:tr>
              <a:tr h="3551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&amp; GitHub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code tracking and remote repository hosting.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426064"/>
                  </a:ext>
                </a:extLst>
              </a:tr>
              <a:tr h="507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 Community Cloud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Free, seamless cloud hosting linked directly to the GitHub repository.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038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50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A80A-C789-7B96-EABA-6BFEE324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Mitigation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5F5EE5-C33F-F95B-64B7-26702D0D3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449378"/>
              </p:ext>
            </p:extLst>
          </p:nvPr>
        </p:nvGraphicFramePr>
        <p:xfrm>
          <a:off x="1155711" y="1505292"/>
          <a:ext cx="10422806" cy="4926387"/>
        </p:xfrm>
        <a:graphic>
          <a:graphicData uri="http://schemas.openxmlformats.org/drawingml/2006/table">
            <a:tbl>
              <a:tblPr/>
              <a:tblGrid>
                <a:gridCol w="5211403">
                  <a:extLst>
                    <a:ext uri="{9D8B030D-6E8A-4147-A177-3AD203B41FA5}">
                      <a16:colId xmlns:a16="http://schemas.microsoft.com/office/drawing/2014/main" val="1644758713"/>
                    </a:ext>
                  </a:extLst>
                </a:gridCol>
                <a:gridCol w="5211403">
                  <a:extLst>
                    <a:ext uri="{9D8B030D-6E8A-4147-A177-3AD203B41FA5}">
                      <a16:colId xmlns:a16="http://schemas.microsoft.com/office/drawing/2014/main" val="1925584178"/>
                    </a:ext>
                  </a:extLst>
                </a:gridCol>
              </a:tblGrid>
              <a:tr h="30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716755"/>
                  </a:ext>
                </a:extLst>
              </a:tr>
              <a:tr h="993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key exposure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Keys stored in .env file (local) or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Secrets (cloud). .env is in .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gitignore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.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env.example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provided with placeholder values only ; never real keys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301015"/>
                  </a:ext>
                </a:extLst>
              </a:tr>
              <a:tr h="764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data privacy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data is persisted to disk or database. All processing is session-scoped in Streamlit's session_state. Files are discarded when the session ends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985720"/>
                  </a:ext>
                </a:extLst>
              </a:tr>
              <a:tr h="764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 injection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content is passed as user data, not as system instructions. LLM prompts clearly delineate between system instructions and user-provided content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385483"/>
                  </a:ext>
                </a:extLst>
              </a:tr>
              <a:tr h="764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type validation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file_handler.py validates MIME types before processing. Only .pdf, .docx, and .txt are accepted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704532"/>
                  </a:ext>
                </a:extLst>
              </a:tr>
              <a:tr h="764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Override accountability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score overrides are logged with timestamp, candidate name, new score, and reason. The audit log is visible in the UI and included in JSON exports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146053"/>
                  </a:ext>
                </a:extLst>
              </a:tr>
              <a:tr h="53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security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requirements.txt pins versions. No unverified third-party packages used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751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006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E807-BCB5-4B1E-1A0C-40B34263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696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5E1-91F2-47A6-2E9F-0B007EA54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Reduced initial screening time from days to seconds.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Every candidate receives a structured score (out of 10) with explicit, readable justifications for why they matched (or didn't).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-enforced JSON outputs resulted in 0% parsing errors during evaluation.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Validated: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 tested against a diverse pool of sample resumes (Excellent, Good, Partial, and Poor matches).</a:t>
            </a:r>
          </a:p>
          <a:p>
            <a:pPr marL="0" indent="0">
              <a:buNone/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Learnings: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is iterative; enforcing structured output (JSON/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Day 1 saved hours of debugging.</a:t>
            </a:r>
          </a:p>
          <a:p>
            <a:pPr lvl="1"/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 enables batch processing that would otherwise cause timeout errors on traditional APIs.</a:t>
            </a:r>
          </a:p>
          <a:p>
            <a:pPr marL="457200" lvl="1" indent="0">
              <a:buNone/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Automation: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 an agent to automatically draft personalized rejection or interview invitation emails.</a:t>
            </a:r>
          </a:p>
          <a:p>
            <a:pPr lvl="1"/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caching to reduce API calls for duplicate resumes.</a:t>
            </a:r>
          </a:p>
          <a:p>
            <a:pPr lvl="1"/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Integrate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LangSmith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Langfuse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token usage and trace the LLM's reasoning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17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5E01D-3584-0EC9-B3E5-893133E00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5718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1078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Times New Roman</vt:lpstr>
      <vt:lpstr>Office Theme</vt:lpstr>
      <vt:lpstr>AI-Scored Shortlist – AI Powered HR Shortlisting Agent</vt:lpstr>
      <vt:lpstr>Introduction</vt:lpstr>
      <vt:lpstr>The Problem </vt:lpstr>
      <vt:lpstr>The Solution- AI Driven Recruitment Intelligence </vt:lpstr>
      <vt:lpstr>Project Overview </vt:lpstr>
      <vt:lpstr>System Architecture</vt:lpstr>
      <vt:lpstr>Repo Structure</vt:lpstr>
      <vt:lpstr>Key Components</vt:lpstr>
      <vt:lpstr>Tech Stack</vt:lpstr>
      <vt:lpstr>Security Mitigation</vt:lpstr>
      <vt:lpstr>Results and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Saumya Ranga</dc:creator>
  <cp:lastModifiedBy>Saumya Ranga</cp:lastModifiedBy>
  <cp:revision>1</cp:revision>
  <dcterms:created xsi:type="dcterms:W3CDTF">2026-05-11T18:42:37Z</dcterms:created>
  <dcterms:modified xsi:type="dcterms:W3CDTF">2026-05-11T19:22:04Z</dcterms:modified>
</cp:coreProperties>
</file>